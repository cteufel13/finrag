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80" r:id="rId2"/>
    <p:sldId id="267" r:id="rId3"/>
    <p:sldId id="268" r:id="rId4"/>
    <p:sldId id="259" r:id="rId5"/>
    <p:sldId id="258" r:id="rId6"/>
    <p:sldId id="272" r:id="rId7"/>
    <p:sldId id="274" r:id="rId8"/>
    <p:sldId id="275" r:id="rId9"/>
    <p:sldId id="276" r:id="rId10"/>
    <p:sldId id="277" r:id="rId11"/>
    <p:sldId id="273" r:id="rId12"/>
    <p:sldId id="278" r:id="rId13"/>
    <p:sldId id="27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AE1B260A-45DB-A244-B81D-6E6D4F8E27ED}">
          <p14:sldIdLst>
            <p14:sldId id="280"/>
            <p14:sldId id="267"/>
            <p14:sldId id="268"/>
            <p14:sldId id="259"/>
          </p14:sldIdLst>
        </p14:section>
        <p14:section name="RAG" id="{3D654C93-3197-7749-975F-F3401D60CA22}">
          <p14:sldIdLst>
            <p14:sldId id="258"/>
            <p14:sldId id="272"/>
            <p14:sldId id="274"/>
            <p14:sldId id="275"/>
            <p14:sldId id="276"/>
            <p14:sldId id="277"/>
            <p14:sldId id="273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77"/>
    <p:restoredTop sz="94685"/>
  </p:normalViewPr>
  <p:slideViewPr>
    <p:cSldViewPr snapToGrid="0">
      <p:cViewPr varScale="1">
        <p:scale>
          <a:sx n="63" d="100"/>
          <a:sy n="63" d="100"/>
        </p:scale>
        <p:origin x="184" y="1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5C9F4E-E920-4D44-949A-A478FAE3130F}" type="datetimeFigureOut">
              <a:rPr lang="en-US" smtClean="0"/>
              <a:t>7/6/25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735DE0-B2AF-5243-83A1-72F52F9F24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2138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04CED-8192-7A8C-39BC-75C246CE0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A5B3C3-3E21-01ED-5B1D-098D7B2058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9C92F-EBE9-2C94-0122-95FB2CF5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F2CE70-828A-1632-CE8C-FBDC616D2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5FD47-7B32-950D-202F-246033C5B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5655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37C4B-1784-EA47-62A6-91FE8D6A4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481BE-025C-C4CE-B1BD-2F9FAF941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2A7FC3-D47F-5566-787E-20515E608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6F6261-EB05-9C8B-665A-652AF8930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25F8E-1734-58A2-5BDD-5618F8C19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178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473FB-8F61-DCA6-4011-6FAC10C23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CED303-7034-7D3B-CAD4-A1EA3097EB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AF36D-897F-7ABB-13D3-810C0A08F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5A148E-3C7F-CB36-6647-36798B5D8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5ECCC-2623-0539-8345-BB2CDB2B1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0739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D5B27-8506-A938-2DBD-08D37D129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7DE0B-8629-22E1-C7A7-1F0C6E18E6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A5C004-FA5B-40B7-BD79-C354EB02B3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807C77-13CA-53B5-D63E-D9377325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29DCB-49F5-B2C6-565D-9B770C344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D00EF0-8A61-479C-603B-23199540D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792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59DD7-AD09-9F8F-CFDD-785BBBB14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3CA40B-D050-7C33-2E17-C13FB8DC0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689431-6848-B851-DFBB-1CDC67ED46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82609F-05EF-AA2A-FFDA-38F4315D1C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60BC84-A931-6699-E3C9-3121D0A7D3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5B2C2F-C1C3-AC39-ABFF-BAA5B5EFB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EE2C7F-186A-F217-40E3-0E518C8F2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336737-4288-83A2-A1AE-2CBC3196C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777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98A1-2455-AE6B-926E-C794F7B25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8EFB5B-0BE8-B40A-3CAC-93CCD2FBA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E4B181-0250-0536-6559-14A7BE92C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657FA0-6746-9AAB-4940-729CE78ED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454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C0CF39-E1EA-3433-9675-F33F162F8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D8150D-5220-0B15-24A1-5D49F3B41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CF0337-1E83-6938-C80D-C31D82B32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263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68AFC-F983-E40A-43AD-13E62B9D2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A6B66-969C-6DED-2F6A-AD7966846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83398B-FCAA-AAA4-4F9C-B6521A9DE8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A48360-2DEB-832C-B63A-D50D1999F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FE3D98-7EE5-74A2-68E4-6C344C154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0739D-EA60-23A9-337E-332299C5E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327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6B82-4353-22EA-C7FF-E71606EA1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8C2B2A-F303-C261-15A8-32BD14277A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CEC55B-26DF-0302-1A95-1EFA0C821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5C8ADB-86A0-62F0-D400-54CE1929F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D58FAC-340E-D0F6-1D2F-B6B4F6CDE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4E4F55-32B9-BCC7-3901-0B54D55D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615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2A07C-34DA-B6E4-0D5D-D96A7B39E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BBB832-93EA-1F78-CB49-DF98FD02FA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48CCD-5555-3545-BCCE-ADF77EE4C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8480FB-422A-7BB7-EB1B-D351D3C03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13D659-C579-F5DE-421A-8AC69EA8C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113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1B357D-5164-70C5-36EA-F1D7A5989B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BBA23-0687-DFB5-5568-49240A3063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242D5-211F-D57F-8E39-70C75BFF7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75B78-02F6-4B47-B918-CE7AA020551C}" type="datetimeFigureOut">
              <a:rPr lang="en-US" smtClean="0"/>
              <a:t>7/6/25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549B3-1C98-C42F-A5D4-9D7526751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800F03-788E-D379-513A-7F8C1A6E6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40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917DDD-01EB-38E6-0E9F-AB932462A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ADB0C0-82B4-D12C-5422-D0C0FFDABB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10F5DE-1364-7D04-84AB-FE3B00400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275B78-02F6-4B47-B918-CE7AA020551C}" type="datetimeFigureOut">
              <a:rPr lang="en-US" smtClean="0"/>
              <a:t>7/6/25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5D8698-EFE4-3A0C-AD35-B7FB760148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57A77-E831-9BCC-3010-FC2E785A7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28D886-687B-3E45-8079-7AA87060D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52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1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10" Type="http://schemas.openxmlformats.org/officeDocument/2006/relationships/image" Target="../media/image21.svg"/><Relationship Id="rId4" Type="http://schemas.openxmlformats.org/officeDocument/2006/relationships/image" Target="../media/image16.png"/><Relationship Id="rId9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1.svg"/><Relationship Id="rId7" Type="http://schemas.openxmlformats.org/officeDocument/2006/relationships/image" Target="../media/image15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9.svg"/><Relationship Id="rId10" Type="http://schemas.openxmlformats.org/officeDocument/2006/relationships/image" Target="../media/image6.png"/><Relationship Id="rId4" Type="http://schemas.openxmlformats.org/officeDocument/2006/relationships/image" Target="../media/image18.png"/><Relationship Id="rId9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21.svg"/><Relationship Id="rId7" Type="http://schemas.openxmlformats.org/officeDocument/2006/relationships/image" Target="../media/image14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10" Type="http://schemas.openxmlformats.org/officeDocument/2006/relationships/image" Target="../media/image17.svg"/><Relationship Id="rId4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9.svg"/><Relationship Id="rId7" Type="http://schemas.openxmlformats.org/officeDocument/2006/relationships/image" Target="../media/image17.svg"/><Relationship Id="rId12" Type="http://schemas.openxmlformats.org/officeDocument/2006/relationships/image" Target="../media/image13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12.png"/><Relationship Id="rId5" Type="http://schemas.openxmlformats.org/officeDocument/2006/relationships/image" Target="../media/image15.svg"/><Relationship Id="rId10" Type="http://schemas.openxmlformats.org/officeDocument/2006/relationships/image" Target="../media/image11.png"/><Relationship Id="rId4" Type="http://schemas.openxmlformats.org/officeDocument/2006/relationships/image" Target="../media/image14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C21FE-75D0-ED40-5F97-492E20539C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RAG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E1D866-0E81-9EE3-1116-C82532AC8A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Carlo Teufel </a:t>
            </a:r>
            <a:r>
              <a:rPr lang="en-US" i="1" dirty="0"/>
              <a:t>(</a:t>
            </a:r>
            <a:r>
              <a:rPr lang="en-US" i="1" dirty="0" err="1"/>
              <a:t>cteufel@ethz.ch</a:t>
            </a:r>
            <a:r>
              <a:rPr lang="en-US" i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4992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2551B-B6FA-4385-7168-0CE79509F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1E477-B696-7565-A8AD-C45966B05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i="1" dirty="0"/>
              <a:t>2018-2020</a:t>
            </a:r>
            <a:r>
              <a:rPr lang="en-US" sz="2400" dirty="0"/>
              <a:t> Foundation Models</a:t>
            </a:r>
          </a:p>
          <a:p>
            <a:pPr lvl="1"/>
            <a:r>
              <a:rPr lang="en-US" sz="2000" dirty="0"/>
              <a:t>GPT-2 , Bert, T5 </a:t>
            </a:r>
          </a:p>
          <a:p>
            <a:pPr lvl="1"/>
            <a:r>
              <a:rPr lang="en-US" sz="2000" dirty="0"/>
              <a:t>No instruction-following, limited practical use</a:t>
            </a:r>
          </a:p>
          <a:p>
            <a:pPr marL="0" indent="0">
              <a:buNone/>
            </a:pPr>
            <a:r>
              <a:rPr lang="en-US" sz="2400" i="1" dirty="0"/>
              <a:t>2021-2022</a:t>
            </a:r>
            <a:r>
              <a:rPr lang="en-US" sz="2400" dirty="0"/>
              <a:t> Instruction Tuning and Finetuning</a:t>
            </a:r>
          </a:p>
          <a:p>
            <a:pPr lvl="1"/>
            <a:r>
              <a:rPr lang="en-US" sz="2000" dirty="0"/>
              <a:t>GPT-3, </a:t>
            </a:r>
            <a:r>
              <a:rPr lang="en-US" sz="2000" dirty="0" err="1"/>
              <a:t>InstructGPT</a:t>
            </a:r>
            <a:r>
              <a:rPr lang="en-US" sz="2000" dirty="0"/>
              <a:t>, FLAN</a:t>
            </a:r>
          </a:p>
          <a:p>
            <a:pPr lvl="1"/>
            <a:r>
              <a:rPr lang="en-US" sz="2000" dirty="0"/>
              <a:t>Finetuned to follow user instructions and complete specific tasks</a:t>
            </a:r>
          </a:p>
          <a:p>
            <a:pPr lvl="1"/>
            <a:r>
              <a:rPr lang="en-US" sz="2000" dirty="0"/>
              <a:t>Specialized models (e.g., legal, medical, finance)</a:t>
            </a:r>
            <a:endParaRPr lang="en-US" sz="2400" dirty="0"/>
          </a:p>
          <a:p>
            <a:pPr marL="0" indent="0">
              <a:buNone/>
            </a:pPr>
            <a:r>
              <a:rPr lang="en-US" sz="2400" i="1" dirty="0"/>
              <a:t>2022-2023</a:t>
            </a:r>
            <a:r>
              <a:rPr lang="en-US" sz="2400" dirty="0"/>
              <a:t> RAG</a:t>
            </a:r>
          </a:p>
          <a:p>
            <a:pPr lvl="1"/>
            <a:r>
              <a:rPr lang="en-US" sz="2000" dirty="0"/>
              <a:t>Combine LLMs with external knowledge via vector search</a:t>
            </a:r>
          </a:p>
          <a:p>
            <a:pPr lvl="1"/>
            <a:r>
              <a:rPr lang="en-US" sz="2000" dirty="0"/>
              <a:t>Popular for document QA, search, internal knowledge bots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97965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A5CDF-0A67-7CFD-EE19-FB41A3539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83AFE-8451-B5F1-3660-B7EA8C8E2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i="1" dirty="0"/>
              <a:t>2023-2024</a:t>
            </a:r>
            <a:r>
              <a:rPr lang="en-US" sz="2400" dirty="0"/>
              <a:t> Tool Use &amp; Function Calling</a:t>
            </a:r>
          </a:p>
          <a:p>
            <a:pPr lvl="1"/>
            <a:r>
              <a:rPr lang="en-US" sz="2000" dirty="0"/>
              <a:t>LLMs can call APIs, run code, search web, access databases</a:t>
            </a:r>
          </a:p>
          <a:p>
            <a:pPr lvl="1"/>
            <a:r>
              <a:rPr lang="en-US" sz="2000" dirty="0" err="1"/>
              <a:t>ReAct</a:t>
            </a:r>
            <a:r>
              <a:rPr lang="en-US" sz="2000" dirty="0"/>
              <a:t>, </a:t>
            </a:r>
            <a:r>
              <a:rPr lang="en-US" sz="2000" dirty="0" err="1"/>
              <a:t>LangChain</a:t>
            </a:r>
            <a:r>
              <a:rPr lang="en-US" sz="2000" dirty="0"/>
              <a:t>, OpenAI tools enable multi-modal actions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i="1" dirty="0"/>
              <a:t>2024-Present</a:t>
            </a:r>
            <a:r>
              <a:rPr lang="en-US" sz="2400" dirty="0"/>
              <a:t> Agentic AI</a:t>
            </a:r>
          </a:p>
          <a:p>
            <a:pPr lvl="1"/>
            <a:r>
              <a:rPr lang="en-US" sz="2000" dirty="0"/>
              <a:t>LLMs as autonomous agents with planning, memory, multi-step reasoning</a:t>
            </a:r>
          </a:p>
          <a:p>
            <a:pPr lvl="1"/>
            <a:r>
              <a:rPr lang="en-US" sz="2000" dirty="0"/>
              <a:t>Frameworks like </a:t>
            </a:r>
            <a:r>
              <a:rPr lang="en-US" sz="2000" dirty="0" err="1"/>
              <a:t>AutoGen</a:t>
            </a:r>
            <a:r>
              <a:rPr lang="en-US" sz="2000" dirty="0"/>
              <a:t>, </a:t>
            </a:r>
            <a:r>
              <a:rPr lang="en-US" sz="2000" dirty="0" err="1"/>
              <a:t>CrewAI</a:t>
            </a:r>
            <a:r>
              <a:rPr lang="en-US" sz="2000" dirty="0"/>
              <a:t>, </a:t>
            </a:r>
            <a:r>
              <a:rPr lang="en-US" sz="2000" dirty="0" err="1"/>
              <a:t>LangGraph</a:t>
            </a:r>
            <a:endParaRPr lang="en-US" sz="2000" dirty="0"/>
          </a:p>
          <a:p>
            <a:pPr lvl="1"/>
            <a:r>
              <a:rPr lang="en-US" sz="2000" dirty="0"/>
              <a:t>Personalized assistants, workflow automation, long-context reasoning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03026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9E6C-2957-9FCE-FBD0-5B8D73645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Finetuning LLMs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67766-3FC4-2947-BCCB-C271EA7AF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Finetuning:  </a:t>
            </a:r>
            <a:r>
              <a:rPr lang="en-US" i="1" dirty="0"/>
              <a:t>Process of adapting pretrained LLM to perform better on specific task or domain</a:t>
            </a:r>
          </a:p>
          <a:p>
            <a:pPr marL="0" indent="0">
              <a:buNone/>
            </a:pPr>
            <a:endParaRPr lang="en-US" i="1" dirty="0"/>
          </a:p>
          <a:p>
            <a:r>
              <a:rPr lang="en-US" sz="2400" dirty="0"/>
              <a:t>Involves updating model's weights using a very large amount of labeled, task-specific data</a:t>
            </a:r>
          </a:p>
          <a:p>
            <a:r>
              <a:rPr lang="en-US" sz="2400" dirty="0"/>
              <a:t>Can significantly improve performance on specific, well-defined problems (Legal Contracts, Biomedical QA etc.) but with downsides:</a:t>
            </a:r>
          </a:p>
          <a:p>
            <a:pPr lvl="1"/>
            <a:r>
              <a:rPr lang="en-US" sz="2000" dirty="0"/>
              <a:t>Requires significant resources</a:t>
            </a:r>
          </a:p>
          <a:p>
            <a:pPr lvl="1"/>
            <a:r>
              <a:rPr lang="en-US" sz="2000" dirty="0"/>
              <a:t>Careful data preparation</a:t>
            </a:r>
          </a:p>
          <a:p>
            <a:pPr lvl="1"/>
            <a:r>
              <a:rPr lang="en-US" sz="2000" dirty="0"/>
              <a:t>Expensive to maintain</a:t>
            </a:r>
          </a:p>
          <a:p>
            <a:r>
              <a:rPr lang="en-US" sz="2400" dirty="0"/>
              <a:t>Not ideal for document specific tasks (extracting info out of a single PDF)</a:t>
            </a:r>
          </a:p>
          <a:p>
            <a:endParaRPr lang="en-US" sz="2400" dirty="0"/>
          </a:p>
          <a:p>
            <a:pPr marL="0" indent="0">
              <a:buNone/>
            </a:pPr>
            <a:r>
              <a:rPr lang="en-US" dirty="0"/>
              <a:t>Is there an easier way?</a:t>
            </a:r>
          </a:p>
        </p:txBody>
      </p:sp>
    </p:spTree>
    <p:extLst>
      <p:ext uri="{BB962C8B-B14F-4D97-AF65-F5344CB8AC3E}">
        <p14:creationId xmlns:p14="http://schemas.microsoft.com/office/powerpoint/2010/main" val="5611038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E6493-E509-1FFD-F875-F200446A8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- ‘Retrieval Augmented Generation’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5BB00-1571-D4F4-2656-4AC4AA959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RAG: Combines the Strengths of LLMs with external data sourcing</a:t>
            </a:r>
          </a:p>
          <a:p>
            <a:r>
              <a:rPr lang="en-US" sz="2400" dirty="0"/>
              <a:t>Instead of finetuning, RAG adds all relevant information from the documents (or databases/APIs) into the prompt.</a:t>
            </a:r>
          </a:p>
          <a:p>
            <a:r>
              <a:rPr lang="en-US" sz="2400" dirty="0"/>
              <a:t>Addresses key limitations of LLMs like outdated knowledge and hallucination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Benefits:</a:t>
            </a:r>
          </a:p>
          <a:p>
            <a:pPr lvl="1"/>
            <a:r>
              <a:rPr lang="en-US" sz="2000" dirty="0"/>
              <a:t>No need for finetuning and associated costs (labeling/compute)</a:t>
            </a:r>
          </a:p>
          <a:p>
            <a:pPr lvl="1"/>
            <a:r>
              <a:rPr lang="en-US" sz="2000" dirty="0"/>
              <a:t>Much faster</a:t>
            </a:r>
          </a:p>
          <a:p>
            <a:pPr lvl="1"/>
            <a:r>
              <a:rPr lang="en-US" sz="2000" dirty="0"/>
              <a:t>Allows for flexibility and relevance at runtime.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9021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68AB46-0E26-B99E-03D4-B720F6AD3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RAG Overview: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580D6B-63AD-FB87-7AA2-2588F83271B2}"/>
              </a:ext>
            </a:extLst>
          </p:cNvPr>
          <p:cNvSpPr/>
          <p:nvPr/>
        </p:nvSpPr>
        <p:spPr>
          <a:xfrm>
            <a:off x="3180742" y="5612343"/>
            <a:ext cx="2087929" cy="440266"/>
          </a:xfrm>
          <a:prstGeom prst="rect">
            <a:avLst/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>
                <a:solidFill>
                  <a:sysClr val="windowText" lastClr="000000"/>
                </a:solidFill>
              </a:rPr>
              <a:t>Data Preparation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C61D8B-4BE5-1E62-0551-6693BB460F3C}"/>
              </a:ext>
            </a:extLst>
          </p:cNvPr>
          <p:cNvSpPr/>
          <p:nvPr/>
        </p:nvSpPr>
        <p:spPr>
          <a:xfrm>
            <a:off x="838201" y="4736041"/>
            <a:ext cx="1871118" cy="10061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Raw Data</a:t>
            </a:r>
          </a:p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Sources</a:t>
            </a:r>
          </a:p>
        </p:txBody>
      </p:sp>
      <p:pic>
        <p:nvPicPr>
          <p:cNvPr id="1026" name="Picture 2" descr="Raw-Data Icons - Free SVG &amp; PNG Raw-Data Images - Noun Project">
            <a:extLst>
              <a:ext uri="{FF2B5EF4-FFF2-40B4-BE49-F238E27FC236}">
                <a16:creationId xmlns:a16="http://schemas.microsoft.com/office/drawing/2014/main" id="{046C2B26-D1A9-9C16-DBF5-0994E33D5B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7920" y="4851501"/>
            <a:ext cx="697257" cy="697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112AB0A-5EC1-5AC1-9BC9-52598476D634}"/>
              </a:ext>
            </a:extLst>
          </p:cNvPr>
          <p:cNvSpPr/>
          <p:nvPr/>
        </p:nvSpPr>
        <p:spPr>
          <a:xfrm>
            <a:off x="838201" y="3343781"/>
            <a:ext cx="1871117" cy="10818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Information </a:t>
            </a:r>
          </a:p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Extraction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6849B42-8348-A3D6-C6BC-A281E3B4EF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62" t="-5651" r="762" b="19524"/>
          <a:stretch>
            <a:fillRect/>
          </a:stretch>
        </p:blipFill>
        <p:spPr>
          <a:xfrm>
            <a:off x="838200" y="3494648"/>
            <a:ext cx="807145" cy="695170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83C3C82-AF50-82AA-D038-05B2F7AEF3B7}"/>
              </a:ext>
            </a:extLst>
          </p:cNvPr>
          <p:cNvCxnSpPr/>
          <p:nvPr/>
        </p:nvCxnSpPr>
        <p:spPr>
          <a:xfrm flipH="1" flipV="1">
            <a:off x="1950152" y="4425596"/>
            <a:ext cx="1" cy="310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60B01A6-1685-DE41-0EE7-6033C6277645}"/>
              </a:ext>
            </a:extLst>
          </p:cNvPr>
          <p:cNvCxnSpPr/>
          <p:nvPr/>
        </p:nvCxnSpPr>
        <p:spPr>
          <a:xfrm flipH="1" flipV="1">
            <a:off x="1950152" y="3033844"/>
            <a:ext cx="1" cy="310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155AE0A1-2930-F2FE-D6E0-399A53D1764A}"/>
              </a:ext>
            </a:extLst>
          </p:cNvPr>
          <p:cNvSpPr/>
          <p:nvPr/>
        </p:nvSpPr>
        <p:spPr>
          <a:xfrm>
            <a:off x="838200" y="2338166"/>
            <a:ext cx="1871123" cy="69517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Chunking</a:t>
            </a:r>
          </a:p>
        </p:txBody>
      </p:sp>
      <p:pic>
        <p:nvPicPr>
          <p:cNvPr id="31" name="Graphic 30" descr="Chat bubble outline">
            <a:extLst>
              <a:ext uri="{FF2B5EF4-FFF2-40B4-BE49-F238E27FC236}">
                <a16:creationId xmlns:a16="http://schemas.microsoft.com/office/drawing/2014/main" id="{69714D00-7C55-BA63-B470-517D094005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9345" y="2306987"/>
            <a:ext cx="805828" cy="805828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753D5D3-C45B-ACAF-2BA6-9D052218083C}"/>
              </a:ext>
            </a:extLst>
          </p:cNvPr>
          <p:cNvCxnSpPr>
            <a:cxnSpLocks/>
            <a:stCxn id="27" idx="3"/>
            <a:endCxn id="35" idx="1"/>
          </p:cNvCxnSpPr>
          <p:nvPr/>
        </p:nvCxnSpPr>
        <p:spPr>
          <a:xfrm>
            <a:off x="2709323" y="2685751"/>
            <a:ext cx="40585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E626CC24-D878-8A5E-83E8-F55C6F5F1E0A}"/>
              </a:ext>
            </a:extLst>
          </p:cNvPr>
          <p:cNvSpPr/>
          <p:nvPr/>
        </p:nvSpPr>
        <p:spPr>
          <a:xfrm>
            <a:off x="3115176" y="2325427"/>
            <a:ext cx="1909317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Embedding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3A0A7C0-BE42-BFC8-F908-277CDED4710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3873"/>
          <a:stretch>
            <a:fillRect/>
          </a:stretch>
        </p:blipFill>
        <p:spPr>
          <a:xfrm>
            <a:off x="3180742" y="2380728"/>
            <a:ext cx="702732" cy="605242"/>
          </a:xfrm>
          <a:prstGeom prst="rect">
            <a:avLst/>
          </a:prstGeom>
        </p:spPr>
      </p:pic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1863FE4-12C1-2070-6515-E3CEC5CD77B0}"/>
              </a:ext>
            </a:extLst>
          </p:cNvPr>
          <p:cNvCxnSpPr>
            <a:cxnSpLocks/>
            <a:stCxn id="35" idx="3"/>
            <a:endCxn id="60" idx="1"/>
          </p:cNvCxnSpPr>
          <p:nvPr/>
        </p:nvCxnSpPr>
        <p:spPr>
          <a:xfrm flipV="1">
            <a:off x="5024493" y="2683350"/>
            <a:ext cx="522642" cy="2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9" name="Picture 58">
            <a:extLst>
              <a:ext uri="{FF2B5EF4-FFF2-40B4-BE49-F238E27FC236}">
                <a16:creationId xmlns:a16="http://schemas.microsoft.com/office/drawing/2014/main" id="{1208CDA2-07EA-53F3-BAD8-39EB8767145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12576"/>
          <a:stretch>
            <a:fillRect/>
          </a:stretch>
        </p:blipFill>
        <p:spPr>
          <a:xfrm>
            <a:off x="5590164" y="2391728"/>
            <a:ext cx="683058" cy="597158"/>
          </a:xfrm>
          <a:prstGeom prst="rect">
            <a:avLst/>
          </a:prstGeom>
        </p:spPr>
      </p:pic>
      <p:sp>
        <p:nvSpPr>
          <p:cNvPr id="60" name="Rectangle 59">
            <a:extLst>
              <a:ext uri="{FF2B5EF4-FFF2-40B4-BE49-F238E27FC236}">
                <a16:creationId xmlns:a16="http://schemas.microsoft.com/office/drawing/2014/main" id="{5ACEBF82-C634-2DE7-5A46-085368B1B9DB}"/>
              </a:ext>
            </a:extLst>
          </p:cNvPr>
          <p:cNvSpPr/>
          <p:nvPr/>
        </p:nvSpPr>
        <p:spPr>
          <a:xfrm>
            <a:off x="5547135" y="2323026"/>
            <a:ext cx="2262684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Vector Database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2CB6A23-8BEB-4D31-BB1A-15790C39E608}"/>
              </a:ext>
            </a:extLst>
          </p:cNvPr>
          <p:cNvSpPr/>
          <p:nvPr/>
        </p:nvSpPr>
        <p:spPr>
          <a:xfrm>
            <a:off x="8753907" y="747016"/>
            <a:ext cx="1871123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ysClr val="windowText" lastClr="000000"/>
                </a:solidFill>
              </a:rPr>
              <a:t>Query</a:t>
            </a:r>
            <a:endParaRPr lang="en-US" sz="1600" b="1" dirty="0">
              <a:solidFill>
                <a:sysClr val="windowText" lastClr="000000"/>
              </a:solidFill>
            </a:endParaRPr>
          </a:p>
        </p:txBody>
      </p:sp>
      <p:pic>
        <p:nvPicPr>
          <p:cNvPr id="1025" name="Graphic 1024" descr="Questions with solid fill">
            <a:extLst>
              <a:ext uri="{FF2B5EF4-FFF2-40B4-BE49-F238E27FC236}">
                <a16:creationId xmlns:a16="http://schemas.microsoft.com/office/drawing/2014/main" id="{D1BEE528-DC7A-5C08-9B50-CFC788B8E73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84539" y="747016"/>
            <a:ext cx="720648" cy="720648"/>
          </a:xfrm>
          <a:prstGeom prst="rect">
            <a:avLst/>
          </a:prstGeom>
        </p:spPr>
      </p:pic>
      <p:sp>
        <p:nvSpPr>
          <p:cNvPr id="1027" name="Rectangle 1026">
            <a:extLst>
              <a:ext uri="{FF2B5EF4-FFF2-40B4-BE49-F238E27FC236}">
                <a16:creationId xmlns:a16="http://schemas.microsoft.com/office/drawing/2014/main" id="{6A733F32-5212-230D-2235-FEFDE51A64AF}"/>
              </a:ext>
            </a:extLst>
          </p:cNvPr>
          <p:cNvSpPr/>
          <p:nvPr/>
        </p:nvSpPr>
        <p:spPr>
          <a:xfrm>
            <a:off x="5718533" y="747016"/>
            <a:ext cx="1909317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Embedding</a:t>
            </a:r>
          </a:p>
        </p:txBody>
      </p:sp>
      <p:pic>
        <p:nvPicPr>
          <p:cNvPr id="1028" name="Picture 1027">
            <a:extLst>
              <a:ext uri="{FF2B5EF4-FFF2-40B4-BE49-F238E27FC236}">
                <a16:creationId xmlns:a16="http://schemas.microsoft.com/office/drawing/2014/main" id="{355D9C4D-2EB2-3744-B66A-FC784A1D40E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13873"/>
          <a:stretch>
            <a:fillRect/>
          </a:stretch>
        </p:blipFill>
        <p:spPr>
          <a:xfrm>
            <a:off x="5793582" y="810219"/>
            <a:ext cx="702732" cy="605242"/>
          </a:xfrm>
          <a:prstGeom prst="rect">
            <a:avLst/>
          </a:prstGeom>
        </p:spPr>
      </p:pic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678433FB-CC62-BF8A-6F4F-0520252D232A}"/>
              </a:ext>
            </a:extLst>
          </p:cNvPr>
          <p:cNvCxnSpPr>
            <a:cxnSpLocks/>
            <a:stCxn id="63" idx="1"/>
            <a:endCxn id="1027" idx="3"/>
          </p:cNvCxnSpPr>
          <p:nvPr/>
        </p:nvCxnSpPr>
        <p:spPr>
          <a:xfrm flipH="1">
            <a:off x="7627850" y="1107340"/>
            <a:ext cx="11260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Straight Arrow Connector 1031">
            <a:extLst>
              <a:ext uri="{FF2B5EF4-FFF2-40B4-BE49-F238E27FC236}">
                <a16:creationId xmlns:a16="http://schemas.microsoft.com/office/drawing/2014/main" id="{F37FE97C-8250-F9F4-637D-FDB6948014FD}"/>
              </a:ext>
            </a:extLst>
          </p:cNvPr>
          <p:cNvCxnSpPr>
            <a:cxnSpLocks/>
            <a:stCxn id="1027" idx="2"/>
            <a:endCxn id="60" idx="0"/>
          </p:cNvCxnSpPr>
          <p:nvPr/>
        </p:nvCxnSpPr>
        <p:spPr>
          <a:xfrm>
            <a:off x="6673192" y="1467663"/>
            <a:ext cx="5285" cy="855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9" name="Straight Arrow Connector 1038">
            <a:extLst>
              <a:ext uri="{FF2B5EF4-FFF2-40B4-BE49-F238E27FC236}">
                <a16:creationId xmlns:a16="http://schemas.microsoft.com/office/drawing/2014/main" id="{5A98596E-1839-B21C-98D4-A5A2E538B939}"/>
              </a:ext>
            </a:extLst>
          </p:cNvPr>
          <p:cNvCxnSpPr>
            <a:stCxn id="60" idx="2"/>
          </p:cNvCxnSpPr>
          <p:nvPr/>
        </p:nvCxnSpPr>
        <p:spPr>
          <a:xfrm>
            <a:off x="6678477" y="3043673"/>
            <a:ext cx="0" cy="408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Rectangle 1039">
            <a:extLst>
              <a:ext uri="{FF2B5EF4-FFF2-40B4-BE49-F238E27FC236}">
                <a16:creationId xmlns:a16="http://schemas.microsoft.com/office/drawing/2014/main" id="{5A0B5218-F984-2FE2-AE21-51427E4A3C71}"/>
              </a:ext>
            </a:extLst>
          </p:cNvPr>
          <p:cNvSpPr/>
          <p:nvPr/>
        </p:nvSpPr>
        <p:spPr>
          <a:xfrm>
            <a:off x="5559343" y="3438706"/>
            <a:ext cx="2262684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600" dirty="0">
                <a:solidFill>
                  <a:sysClr val="windowText" lastClr="000000"/>
                </a:solidFill>
              </a:rPr>
              <a:t>Relevant Data </a:t>
            </a:r>
          </a:p>
        </p:txBody>
      </p:sp>
      <p:pic>
        <p:nvPicPr>
          <p:cNvPr id="1043" name="Graphic 1042" descr="Comment Important outline">
            <a:extLst>
              <a:ext uri="{FF2B5EF4-FFF2-40B4-BE49-F238E27FC236}">
                <a16:creationId xmlns:a16="http://schemas.microsoft.com/office/drawing/2014/main" id="{BD082B7A-430C-9295-5E6C-1102398D161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547135" y="3438706"/>
            <a:ext cx="788405" cy="788405"/>
          </a:xfrm>
          <a:prstGeom prst="rect">
            <a:avLst/>
          </a:prstGeom>
        </p:spPr>
      </p:pic>
      <p:cxnSp>
        <p:nvCxnSpPr>
          <p:cNvPr id="1045" name="Straight Arrow Connector 1044">
            <a:extLst>
              <a:ext uri="{FF2B5EF4-FFF2-40B4-BE49-F238E27FC236}">
                <a16:creationId xmlns:a16="http://schemas.microsoft.com/office/drawing/2014/main" id="{60400BA6-0193-F4B7-C780-50EB8F273D96}"/>
              </a:ext>
            </a:extLst>
          </p:cNvPr>
          <p:cNvCxnSpPr>
            <a:cxnSpLocks/>
            <a:stCxn id="1040" idx="2"/>
            <a:endCxn id="1047" idx="0"/>
          </p:cNvCxnSpPr>
          <p:nvPr/>
        </p:nvCxnSpPr>
        <p:spPr>
          <a:xfrm>
            <a:off x="6690685" y="4159353"/>
            <a:ext cx="0" cy="3483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9F70F1F4-995C-8501-6482-2DCA10CB3D79}"/>
              </a:ext>
            </a:extLst>
          </p:cNvPr>
          <p:cNvSpPr/>
          <p:nvPr/>
        </p:nvSpPr>
        <p:spPr>
          <a:xfrm>
            <a:off x="5559343" y="4507729"/>
            <a:ext cx="2262684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                          LLM(s)</a:t>
            </a:r>
          </a:p>
        </p:txBody>
      </p:sp>
      <p:pic>
        <p:nvPicPr>
          <p:cNvPr id="1049" name="Picture 1048">
            <a:extLst>
              <a:ext uri="{FF2B5EF4-FFF2-40B4-BE49-F238E27FC236}">
                <a16:creationId xmlns:a16="http://schemas.microsoft.com/office/drawing/2014/main" id="{6664F53B-092E-C2DF-860C-1CF4F3612A2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b="21641"/>
          <a:stretch>
            <a:fillRect/>
          </a:stretch>
        </p:blipFill>
        <p:spPr>
          <a:xfrm>
            <a:off x="5695501" y="4497003"/>
            <a:ext cx="919673" cy="720647"/>
          </a:xfrm>
          <a:prstGeom prst="rect">
            <a:avLst/>
          </a:prstGeom>
        </p:spPr>
      </p:pic>
      <p:cxnSp>
        <p:nvCxnSpPr>
          <p:cNvPr id="1055" name="Straight Arrow Connector 1054">
            <a:extLst>
              <a:ext uri="{FF2B5EF4-FFF2-40B4-BE49-F238E27FC236}">
                <a16:creationId xmlns:a16="http://schemas.microsoft.com/office/drawing/2014/main" id="{9A0874A6-BD38-B3F8-61D9-B26E222B7EAD}"/>
              </a:ext>
            </a:extLst>
          </p:cNvPr>
          <p:cNvCxnSpPr>
            <a:stCxn id="1047" idx="2"/>
          </p:cNvCxnSpPr>
          <p:nvPr/>
        </p:nvCxnSpPr>
        <p:spPr>
          <a:xfrm>
            <a:off x="6690685" y="5228376"/>
            <a:ext cx="0" cy="3765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CD44B478-2064-3594-8205-67939CB10AA5}"/>
              </a:ext>
            </a:extLst>
          </p:cNvPr>
          <p:cNvSpPr/>
          <p:nvPr/>
        </p:nvSpPr>
        <p:spPr>
          <a:xfrm>
            <a:off x="5559343" y="5604920"/>
            <a:ext cx="2262684" cy="72064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b="1" dirty="0">
                <a:solidFill>
                  <a:sysClr val="windowText" lastClr="000000"/>
                </a:solidFill>
              </a:rPr>
              <a:t>Output</a:t>
            </a:r>
          </a:p>
        </p:txBody>
      </p:sp>
      <p:pic>
        <p:nvPicPr>
          <p:cNvPr id="1060" name="Graphic 1059" descr="Share outline">
            <a:extLst>
              <a:ext uri="{FF2B5EF4-FFF2-40B4-BE49-F238E27FC236}">
                <a16:creationId xmlns:a16="http://schemas.microsoft.com/office/drawing/2014/main" id="{D7471D12-6974-2DF1-735B-274DFAAAF56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2451" y="5668703"/>
            <a:ext cx="593079" cy="593079"/>
          </a:xfrm>
          <a:prstGeom prst="rect">
            <a:avLst/>
          </a:prstGeom>
        </p:spPr>
      </p:pic>
      <p:sp>
        <p:nvSpPr>
          <p:cNvPr id="1087" name="TextBox 1086">
            <a:extLst>
              <a:ext uri="{FF2B5EF4-FFF2-40B4-BE49-F238E27FC236}">
                <a16:creationId xmlns:a16="http://schemas.microsoft.com/office/drawing/2014/main" id="{5F7285D1-5D72-AFA6-BD34-C6E8DDFD6986}"/>
              </a:ext>
            </a:extLst>
          </p:cNvPr>
          <p:cNvSpPr txBox="1"/>
          <p:nvPr/>
        </p:nvSpPr>
        <p:spPr>
          <a:xfrm>
            <a:off x="7939782" y="747016"/>
            <a:ext cx="632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</a:t>
            </a: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71018866-7997-6C2E-4450-D3D04C193D90}"/>
              </a:ext>
            </a:extLst>
          </p:cNvPr>
          <p:cNvSpPr txBox="1"/>
          <p:nvPr/>
        </p:nvSpPr>
        <p:spPr>
          <a:xfrm>
            <a:off x="6690685" y="1717615"/>
            <a:ext cx="632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</a:t>
            </a:r>
          </a:p>
        </p:txBody>
      </p:sp>
      <p:sp>
        <p:nvSpPr>
          <p:cNvPr id="1089" name="Title 1">
            <a:extLst>
              <a:ext uri="{FF2B5EF4-FFF2-40B4-BE49-F238E27FC236}">
                <a16:creationId xmlns:a16="http://schemas.microsoft.com/office/drawing/2014/main" id="{CFA349ED-ACE8-1B5A-0A21-B78C12B530EA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Full Pipeline</a:t>
            </a:r>
          </a:p>
        </p:txBody>
      </p:sp>
      <p:sp>
        <p:nvSpPr>
          <p:cNvPr id="1094" name="TextBox 1093">
            <a:extLst>
              <a:ext uri="{FF2B5EF4-FFF2-40B4-BE49-F238E27FC236}">
                <a16:creationId xmlns:a16="http://schemas.microsoft.com/office/drawing/2014/main" id="{DFD20E70-7EB1-4850-BBBC-AD603DFB30E2}"/>
              </a:ext>
            </a:extLst>
          </p:cNvPr>
          <p:cNvSpPr txBox="1"/>
          <p:nvPr/>
        </p:nvSpPr>
        <p:spPr>
          <a:xfrm>
            <a:off x="6727131" y="3049962"/>
            <a:ext cx="632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</a:t>
            </a:r>
          </a:p>
        </p:txBody>
      </p:sp>
      <p:sp>
        <p:nvSpPr>
          <p:cNvPr id="1095" name="TextBox 1094">
            <a:extLst>
              <a:ext uri="{FF2B5EF4-FFF2-40B4-BE49-F238E27FC236}">
                <a16:creationId xmlns:a16="http://schemas.microsoft.com/office/drawing/2014/main" id="{0200D882-2F17-CECB-05C8-6186DAE57BD0}"/>
              </a:ext>
            </a:extLst>
          </p:cNvPr>
          <p:cNvSpPr txBox="1"/>
          <p:nvPr/>
        </p:nvSpPr>
        <p:spPr>
          <a:xfrm>
            <a:off x="6762370" y="4135587"/>
            <a:ext cx="632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4.</a:t>
            </a:r>
          </a:p>
        </p:txBody>
      </p:sp>
      <p:sp>
        <p:nvSpPr>
          <p:cNvPr id="1096" name="TextBox 1095">
            <a:extLst>
              <a:ext uri="{FF2B5EF4-FFF2-40B4-BE49-F238E27FC236}">
                <a16:creationId xmlns:a16="http://schemas.microsoft.com/office/drawing/2014/main" id="{1CA7F4E5-0E20-CAB9-E7A8-5BDDB0330F6A}"/>
              </a:ext>
            </a:extLst>
          </p:cNvPr>
          <p:cNvSpPr txBox="1"/>
          <p:nvPr/>
        </p:nvSpPr>
        <p:spPr>
          <a:xfrm>
            <a:off x="6762370" y="5239102"/>
            <a:ext cx="632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5.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4B3F4EFE-EA4D-5FA7-EF0A-9CD4A4EA8AA8}"/>
              </a:ext>
            </a:extLst>
          </p:cNvPr>
          <p:cNvSpPr/>
          <p:nvPr/>
        </p:nvSpPr>
        <p:spPr>
          <a:xfrm>
            <a:off x="680936" y="2200138"/>
            <a:ext cx="4587735" cy="385247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01" name="TextBox 1100">
            <a:extLst>
              <a:ext uri="{FF2B5EF4-FFF2-40B4-BE49-F238E27FC236}">
                <a16:creationId xmlns:a16="http://schemas.microsoft.com/office/drawing/2014/main" id="{43E88151-4E49-56D0-D815-92B24036E97D}"/>
              </a:ext>
            </a:extLst>
          </p:cNvPr>
          <p:cNvSpPr txBox="1"/>
          <p:nvPr/>
        </p:nvSpPr>
        <p:spPr>
          <a:xfrm>
            <a:off x="8256195" y="5490959"/>
            <a:ext cx="37476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Retrieval Augmented Generation </a:t>
            </a:r>
          </a:p>
        </p:txBody>
      </p: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800C80CA-7C89-9700-14DE-75534396F173}"/>
              </a:ext>
            </a:extLst>
          </p:cNvPr>
          <p:cNvCxnSpPr>
            <a:cxnSpLocks/>
            <a:stCxn id="63" idx="2"/>
            <a:endCxn id="1047" idx="3"/>
          </p:cNvCxnSpPr>
          <p:nvPr/>
        </p:nvCxnSpPr>
        <p:spPr>
          <a:xfrm rot="5400000">
            <a:off x="7055553" y="2234137"/>
            <a:ext cx="3400390" cy="18674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31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2DD15-2DC1-CC2C-84A0-909D9EF8A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A652257-6AF1-E270-57AF-9FDA85FC0CAD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Information Extraction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761178-B18C-8941-79FB-08B83514DBB4}"/>
              </a:ext>
            </a:extLst>
          </p:cNvPr>
          <p:cNvSpPr/>
          <p:nvPr/>
        </p:nvSpPr>
        <p:spPr>
          <a:xfrm>
            <a:off x="838200" y="2709587"/>
            <a:ext cx="2289048" cy="13255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r"/>
            <a:r>
              <a:rPr lang="en-US" dirty="0">
                <a:solidFill>
                  <a:sysClr val="windowText" lastClr="000000"/>
                </a:solidFill>
              </a:rPr>
              <a:t>Raw Data </a:t>
            </a:r>
          </a:p>
          <a:p>
            <a:pPr algn="r"/>
            <a:r>
              <a:rPr lang="en-US" dirty="0">
                <a:solidFill>
                  <a:sysClr val="windowText" lastClr="000000"/>
                </a:solidFill>
              </a:rPr>
              <a:t>Sources</a:t>
            </a:r>
          </a:p>
        </p:txBody>
      </p:sp>
      <p:pic>
        <p:nvPicPr>
          <p:cNvPr id="8" name="Picture 2" descr="Raw-Data Icons - Free SVG &amp; PNG Raw-Data Images - Noun Project">
            <a:extLst>
              <a:ext uri="{FF2B5EF4-FFF2-40B4-BE49-F238E27FC236}">
                <a16:creationId xmlns:a16="http://schemas.microsoft.com/office/drawing/2014/main" id="{5E90B285-C1F3-6A3A-8210-53AFCE347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4879" y="2932920"/>
            <a:ext cx="878896" cy="878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64EFA9-4ED5-0EDB-D0C1-F710F2D95BFE}"/>
              </a:ext>
            </a:extLst>
          </p:cNvPr>
          <p:cNvCxnSpPr>
            <a:cxnSpLocks/>
            <a:stCxn id="7" idx="3"/>
            <a:endCxn id="15" idx="1"/>
          </p:cNvCxnSpPr>
          <p:nvPr/>
        </p:nvCxnSpPr>
        <p:spPr>
          <a:xfrm flipV="1">
            <a:off x="3127248" y="3372368"/>
            <a:ext cx="768096" cy="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5D3A2E0-A62A-0312-A50E-EE9748ECC542}"/>
              </a:ext>
            </a:extLst>
          </p:cNvPr>
          <p:cNvSpPr/>
          <p:nvPr/>
        </p:nvSpPr>
        <p:spPr>
          <a:xfrm>
            <a:off x="3895344" y="2296166"/>
            <a:ext cx="3511296" cy="215240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r"/>
            <a:r>
              <a:rPr lang="en-US" dirty="0">
                <a:solidFill>
                  <a:sysClr val="windowText" lastClr="000000"/>
                </a:solidFill>
              </a:rPr>
              <a:t>Information Extraction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EC93294-04C4-DAE7-F8DD-07F260F980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762" t="-5651" r="762" b="19524"/>
          <a:stretch>
            <a:fillRect/>
          </a:stretch>
        </p:blipFill>
        <p:spPr>
          <a:xfrm>
            <a:off x="4123774" y="2376045"/>
            <a:ext cx="807145" cy="69517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42D9F2B-3AEB-1A49-CF63-9CE2FB95FB64}"/>
              </a:ext>
            </a:extLst>
          </p:cNvPr>
          <p:cNvSpPr txBox="1"/>
          <p:nvPr/>
        </p:nvSpPr>
        <p:spPr>
          <a:xfrm>
            <a:off x="4294462" y="4002226"/>
            <a:ext cx="887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D29D72-F9A8-99A0-16F7-B28196DE4BA1}"/>
              </a:ext>
            </a:extLst>
          </p:cNvPr>
          <p:cNvSpPr txBox="1"/>
          <p:nvPr/>
        </p:nvSpPr>
        <p:spPr>
          <a:xfrm>
            <a:off x="5111223" y="4017876"/>
            <a:ext cx="887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89BDDB-58B3-16C2-202F-750523854889}"/>
              </a:ext>
            </a:extLst>
          </p:cNvPr>
          <p:cNvSpPr txBox="1"/>
          <p:nvPr/>
        </p:nvSpPr>
        <p:spPr>
          <a:xfrm>
            <a:off x="6096000" y="4017876"/>
            <a:ext cx="12372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Images</a:t>
            </a:r>
          </a:p>
        </p:txBody>
      </p:sp>
      <p:pic>
        <p:nvPicPr>
          <p:cNvPr id="30" name="Graphic 29" descr="Document outline">
            <a:extLst>
              <a:ext uri="{FF2B5EF4-FFF2-40B4-BE49-F238E27FC236}">
                <a16:creationId xmlns:a16="http://schemas.microsoft.com/office/drawing/2014/main" id="{3A108A4C-C7FA-4AA2-D95D-14224DBBBD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28940" y="3151094"/>
            <a:ext cx="914400" cy="914400"/>
          </a:xfrm>
          <a:prstGeom prst="rect">
            <a:avLst/>
          </a:prstGeom>
        </p:spPr>
      </p:pic>
      <p:pic>
        <p:nvPicPr>
          <p:cNvPr id="32" name="Graphic 31" descr="Table outline">
            <a:extLst>
              <a:ext uri="{FF2B5EF4-FFF2-40B4-BE49-F238E27FC236}">
                <a16:creationId xmlns:a16="http://schemas.microsoft.com/office/drawing/2014/main" id="{9B79C71E-BD65-CFEF-6D9F-2FEADD142CB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67620" y="3288142"/>
            <a:ext cx="914400" cy="914400"/>
          </a:xfrm>
          <a:prstGeom prst="rect">
            <a:avLst/>
          </a:prstGeom>
        </p:spPr>
      </p:pic>
      <p:pic>
        <p:nvPicPr>
          <p:cNvPr id="34" name="Graphic 33" descr="Image outline">
            <a:extLst>
              <a:ext uri="{FF2B5EF4-FFF2-40B4-BE49-F238E27FC236}">
                <a16:creationId xmlns:a16="http://schemas.microsoft.com/office/drawing/2014/main" id="{F8AF69EE-D90B-472F-DFAD-7E96C42BE03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71720" y="3245387"/>
            <a:ext cx="914400" cy="91440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C7DB9B-2F86-D095-7D6F-332A31A7033E}"/>
              </a:ext>
            </a:extLst>
          </p:cNvPr>
          <p:cNvCxnSpPr>
            <a:cxnSpLocks/>
            <a:stCxn id="15" idx="3"/>
            <a:endCxn id="55" idx="1"/>
          </p:cNvCxnSpPr>
          <p:nvPr/>
        </p:nvCxnSpPr>
        <p:spPr>
          <a:xfrm flipV="1">
            <a:off x="7406640" y="2470416"/>
            <a:ext cx="1682496" cy="90195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F6BA5AF-FBCE-04C2-F4C8-7E84EA5C8519}"/>
              </a:ext>
            </a:extLst>
          </p:cNvPr>
          <p:cNvCxnSpPr>
            <a:cxnSpLocks/>
            <a:stCxn id="15" idx="3"/>
            <a:endCxn id="58" idx="1"/>
          </p:cNvCxnSpPr>
          <p:nvPr/>
        </p:nvCxnSpPr>
        <p:spPr>
          <a:xfrm>
            <a:off x="7406640" y="3372368"/>
            <a:ext cx="1682496" cy="1244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C72BCC8-F4BA-5EE0-240C-8937EFDAC060}"/>
              </a:ext>
            </a:extLst>
          </p:cNvPr>
          <p:cNvCxnSpPr>
            <a:cxnSpLocks/>
            <a:stCxn id="15" idx="3"/>
            <a:endCxn id="62" idx="1"/>
          </p:cNvCxnSpPr>
          <p:nvPr/>
        </p:nvCxnSpPr>
        <p:spPr>
          <a:xfrm>
            <a:off x="7406640" y="3372368"/>
            <a:ext cx="1682496" cy="92684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Graphic 54" descr="Document outline">
            <a:extLst>
              <a:ext uri="{FF2B5EF4-FFF2-40B4-BE49-F238E27FC236}">
                <a16:creationId xmlns:a16="http://schemas.microsoft.com/office/drawing/2014/main" id="{A0666293-654D-1989-D800-49A150688F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89136" y="2013216"/>
            <a:ext cx="914400" cy="914400"/>
          </a:xfrm>
          <a:prstGeom prst="rect">
            <a:avLst/>
          </a:prstGeom>
        </p:spPr>
      </p:pic>
      <p:pic>
        <p:nvPicPr>
          <p:cNvPr id="58" name="Graphic 57" descr="Table outline">
            <a:extLst>
              <a:ext uri="{FF2B5EF4-FFF2-40B4-BE49-F238E27FC236}">
                <a16:creationId xmlns:a16="http://schemas.microsoft.com/office/drawing/2014/main" id="{40E981D2-63A3-19E6-84B9-99C25A1DD9C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89136" y="2927616"/>
            <a:ext cx="914400" cy="914400"/>
          </a:xfrm>
          <a:prstGeom prst="rect">
            <a:avLst/>
          </a:prstGeom>
        </p:spPr>
      </p:pic>
      <p:pic>
        <p:nvPicPr>
          <p:cNvPr id="62" name="Graphic 61" descr="Image outline">
            <a:extLst>
              <a:ext uri="{FF2B5EF4-FFF2-40B4-BE49-F238E27FC236}">
                <a16:creationId xmlns:a16="http://schemas.microsoft.com/office/drawing/2014/main" id="{91EED078-FCB6-20EE-60DC-D1D2A58380B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089136" y="384201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382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6565B-2008-1396-399B-5AE028B14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01DBC9-2071-3E79-D94A-137D016265E5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Chunking</a:t>
            </a:r>
          </a:p>
        </p:txBody>
      </p:sp>
      <p:pic>
        <p:nvPicPr>
          <p:cNvPr id="6" name="Graphic 5" descr="Document outline">
            <a:extLst>
              <a:ext uri="{FF2B5EF4-FFF2-40B4-BE49-F238E27FC236}">
                <a16:creationId xmlns:a16="http://schemas.microsoft.com/office/drawing/2014/main" id="{D97DE07F-8C38-423F-29CE-2D703ABA49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251" y="2795406"/>
            <a:ext cx="1284823" cy="12848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F5ECB0-970B-0E97-36FE-CFE360C8D4DD}"/>
              </a:ext>
            </a:extLst>
          </p:cNvPr>
          <p:cNvSpPr txBox="1"/>
          <p:nvPr/>
        </p:nvSpPr>
        <p:spPr>
          <a:xfrm>
            <a:off x="2023803" y="3988160"/>
            <a:ext cx="1552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86D6C68-499F-56DE-7DBA-752A042D0130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871537" y="3525701"/>
            <a:ext cx="154973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A4EFCADA-56A2-4B7E-BADE-B5C26C35DE5A}"/>
              </a:ext>
            </a:extLst>
          </p:cNvPr>
          <p:cNvSpPr/>
          <p:nvPr/>
        </p:nvSpPr>
        <p:spPr>
          <a:xfrm>
            <a:off x="4421271" y="2043658"/>
            <a:ext cx="2910680" cy="296408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lvl="1" algn="ctr"/>
            <a:r>
              <a:rPr lang="en-US" dirty="0">
                <a:solidFill>
                  <a:sysClr val="windowText" lastClr="000000"/>
                </a:solidFill>
              </a:rPr>
              <a:t>    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3" name="Graphic 12" descr="Chat bubble outline">
            <a:extLst>
              <a:ext uri="{FF2B5EF4-FFF2-40B4-BE49-F238E27FC236}">
                <a16:creationId xmlns:a16="http://schemas.microsoft.com/office/drawing/2014/main" id="{C3EA804B-196E-51FA-EACD-4C1103E399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65463" y="2200138"/>
            <a:ext cx="971750" cy="9717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290CB44-4B66-1A60-BDA5-288764580DAB}"/>
              </a:ext>
            </a:extLst>
          </p:cNvPr>
          <p:cNvSpPr txBox="1"/>
          <p:nvPr/>
        </p:nvSpPr>
        <p:spPr>
          <a:xfrm>
            <a:off x="5537213" y="2426078"/>
            <a:ext cx="1604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Chunking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251F56-CE0E-1DBE-28F6-5E17961F5312}"/>
              </a:ext>
            </a:extLst>
          </p:cNvPr>
          <p:cNvSpPr txBox="1"/>
          <p:nvPr/>
        </p:nvSpPr>
        <p:spPr>
          <a:xfrm>
            <a:off x="4737434" y="3070580"/>
            <a:ext cx="25667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Break Text down into smaller Chunks by: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Characters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Delimiters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Headings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37FF654-079E-F9DE-D32E-3806C9D04F17}"/>
              </a:ext>
            </a:extLst>
          </p:cNvPr>
          <p:cNvCxnSpPr>
            <a:cxnSpLocks/>
          </p:cNvCxnSpPr>
          <p:nvPr/>
        </p:nvCxnSpPr>
        <p:spPr>
          <a:xfrm>
            <a:off x="7331951" y="3433459"/>
            <a:ext cx="165162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 descr="Document outline">
            <a:extLst>
              <a:ext uri="{FF2B5EF4-FFF2-40B4-BE49-F238E27FC236}">
                <a16:creationId xmlns:a16="http://schemas.microsoft.com/office/drawing/2014/main" id="{F6E1346E-A59D-FCD3-3BA5-E1E95BB8B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73361" y="3090716"/>
            <a:ext cx="694204" cy="694204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72DDFBC-F442-8C8F-6E48-F40AD2050A28}"/>
              </a:ext>
            </a:extLst>
          </p:cNvPr>
          <p:cNvSpPr txBox="1"/>
          <p:nvPr/>
        </p:nvSpPr>
        <p:spPr>
          <a:xfrm>
            <a:off x="8973361" y="4631734"/>
            <a:ext cx="2991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Chunks</a:t>
            </a:r>
          </a:p>
        </p:txBody>
      </p:sp>
      <p:pic>
        <p:nvPicPr>
          <p:cNvPr id="36" name="Graphic 35" descr="Document outline">
            <a:extLst>
              <a:ext uri="{FF2B5EF4-FFF2-40B4-BE49-F238E27FC236}">
                <a16:creationId xmlns:a16="http://schemas.microsoft.com/office/drawing/2014/main" id="{5276D375-87C4-9038-9A1D-22B6FCDAC7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74936" y="2435212"/>
            <a:ext cx="694204" cy="694204"/>
          </a:xfrm>
          <a:prstGeom prst="rect">
            <a:avLst/>
          </a:prstGeom>
        </p:spPr>
      </p:pic>
      <p:pic>
        <p:nvPicPr>
          <p:cNvPr id="37" name="Graphic 36" descr="Document outline">
            <a:extLst>
              <a:ext uri="{FF2B5EF4-FFF2-40B4-BE49-F238E27FC236}">
                <a16:creationId xmlns:a16="http://schemas.microsoft.com/office/drawing/2014/main" id="{74B15887-5DFB-8CF9-3849-7F9BBAB1BA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64101" y="2444601"/>
            <a:ext cx="694204" cy="694204"/>
          </a:xfrm>
          <a:prstGeom prst="rect">
            <a:avLst/>
          </a:prstGeom>
        </p:spPr>
      </p:pic>
      <p:pic>
        <p:nvPicPr>
          <p:cNvPr id="38" name="Graphic 37" descr="Document outline">
            <a:extLst>
              <a:ext uri="{FF2B5EF4-FFF2-40B4-BE49-F238E27FC236}">
                <a16:creationId xmlns:a16="http://schemas.microsoft.com/office/drawing/2014/main" id="{A348D3E8-0E49-A0CC-C6DE-4B494FEBF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73361" y="3777828"/>
            <a:ext cx="694204" cy="694204"/>
          </a:xfrm>
          <a:prstGeom prst="rect">
            <a:avLst/>
          </a:prstGeom>
        </p:spPr>
      </p:pic>
      <p:pic>
        <p:nvPicPr>
          <p:cNvPr id="39" name="Graphic 38" descr="Document outline">
            <a:extLst>
              <a:ext uri="{FF2B5EF4-FFF2-40B4-BE49-F238E27FC236}">
                <a16:creationId xmlns:a16="http://schemas.microsoft.com/office/drawing/2014/main" id="{E3B5B338-1FBD-47FE-F33F-DA1D9F3DC8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72744" y="3090716"/>
            <a:ext cx="694204" cy="694204"/>
          </a:xfrm>
          <a:prstGeom prst="rect">
            <a:avLst/>
          </a:prstGeom>
        </p:spPr>
      </p:pic>
      <p:pic>
        <p:nvPicPr>
          <p:cNvPr id="40" name="Graphic 39" descr="Document outline">
            <a:extLst>
              <a:ext uri="{FF2B5EF4-FFF2-40B4-BE49-F238E27FC236}">
                <a16:creationId xmlns:a16="http://schemas.microsoft.com/office/drawing/2014/main" id="{0DA8828D-C0D4-8EC6-9C93-C3BC1C962B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72744" y="3784920"/>
            <a:ext cx="694204" cy="69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835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9D1C0-B13C-EA90-F81A-07209CBE2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9AFC147-9EA6-3EC1-4D93-273CE3E8BA3C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Embedding</a:t>
            </a:r>
          </a:p>
        </p:txBody>
      </p:sp>
      <p:pic>
        <p:nvPicPr>
          <p:cNvPr id="5" name="Graphic 4" descr="Document outline">
            <a:extLst>
              <a:ext uri="{FF2B5EF4-FFF2-40B4-BE49-F238E27FC236}">
                <a16:creationId xmlns:a16="http://schemas.microsoft.com/office/drawing/2014/main" id="{C76D9F74-FA66-B7D6-5CDB-5E243A1F4C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4956876"/>
            <a:ext cx="694204" cy="694204"/>
          </a:xfrm>
          <a:prstGeom prst="rect">
            <a:avLst/>
          </a:prstGeom>
        </p:spPr>
      </p:pic>
      <p:pic>
        <p:nvPicPr>
          <p:cNvPr id="7" name="Graphic 6" descr="Document outline">
            <a:extLst>
              <a:ext uri="{FF2B5EF4-FFF2-40B4-BE49-F238E27FC236}">
                <a16:creationId xmlns:a16="http://schemas.microsoft.com/office/drawing/2014/main" id="{DDD5E463-58F2-6BC6-9F1B-ADD8C58CF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9775" y="4301372"/>
            <a:ext cx="694204" cy="694204"/>
          </a:xfrm>
          <a:prstGeom prst="rect">
            <a:avLst/>
          </a:prstGeom>
        </p:spPr>
      </p:pic>
      <p:pic>
        <p:nvPicPr>
          <p:cNvPr id="8" name="Graphic 7" descr="Document outline">
            <a:extLst>
              <a:ext uri="{FF2B5EF4-FFF2-40B4-BE49-F238E27FC236}">
                <a16:creationId xmlns:a16="http://schemas.microsoft.com/office/drawing/2014/main" id="{795C782D-F9E3-6C60-CC78-E2A5E407F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8940" y="4310761"/>
            <a:ext cx="694204" cy="694204"/>
          </a:xfrm>
          <a:prstGeom prst="rect">
            <a:avLst/>
          </a:prstGeom>
        </p:spPr>
      </p:pic>
      <p:pic>
        <p:nvPicPr>
          <p:cNvPr id="10" name="Graphic 9" descr="Document outline">
            <a:extLst>
              <a:ext uri="{FF2B5EF4-FFF2-40B4-BE49-F238E27FC236}">
                <a16:creationId xmlns:a16="http://schemas.microsoft.com/office/drawing/2014/main" id="{EA0B3076-2A63-EBD1-2314-56B09625F9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7583" y="4956876"/>
            <a:ext cx="694204" cy="694204"/>
          </a:xfrm>
          <a:prstGeom prst="rect">
            <a:avLst/>
          </a:prstGeom>
        </p:spPr>
      </p:pic>
      <p:pic>
        <p:nvPicPr>
          <p:cNvPr id="12" name="Graphic 11" descr="Table outline">
            <a:extLst>
              <a:ext uri="{FF2B5EF4-FFF2-40B4-BE49-F238E27FC236}">
                <a16:creationId xmlns:a16="http://schemas.microsoft.com/office/drawing/2014/main" id="{3CBE2A02-ECB5-CA7E-A6EC-BCBA5F9D67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1740" y="2085353"/>
            <a:ext cx="914400" cy="914400"/>
          </a:xfrm>
          <a:prstGeom prst="rect">
            <a:avLst/>
          </a:prstGeom>
        </p:spPr>
      </p:pic>
      <p:pic>
        <p:nvPicPr>
          <p:cNvPr id="13" name="Graphic 12" descr="Image outline">
            <a:extLst>
              <a:ext uri="{FF2B5EF4-FFF2-40B4-BE49-F238E27FC236}">
                <a16:creationId xmlns:a16="http://schemas.microsoft.com/office/drawing/2014/main" id="{FAD3F7B4-1F0B-D20D-59C5-4E8729FCA8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80383" y="3188668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8EA3828-3C4C-34F8-F060-97E83380BAAB}"/>
              </a:ext>
            </a:extLst>
          </p:cNvPr>
          <p:cNvSpPr txBox="1"/>
          <p:nvPr/>
        </p:nvSpPr>
        <p:spPr>
          <a:xfrm>
            <a:off x="971740" y="2842054"/>
            <a:ext cx="1413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4B2F79-424E-5F81-20EC-1334298DC01C}"/>
              </a:ext>
            </a:extLst>
          </p:cNvPr>
          <p:cNvSpPr txBox="1"/>
          <p:nvPr/>
        </p:nvSpPr>
        <p:spPr>
          <a:xfrm>
            <a:off x="985623" y="3905073"/>
            <a:ext cx="90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C973F6-E362-E017-0604-921152C8328E}"/>
              </a:ext>
            </a:extLst>
          </p:cNvPr>
          <p:cNvSpPr txBox="1"/>
          <p:nvPr/>
        </p:nvSpPr>
        <p:spPr>
          <a:xfrm>
            <a:off x="838200" y="5716230"/>
            <a:ext cx="1546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Chunks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BFC2DF-06E5-DD1B-E6EC-079505B8CCFF}"/>
              </a:ext>
            </a:extLst>
          </p:cNvPr>
          <p:cNvSpPr/>
          <p:nvPr/>
        </p:nvSpPr>
        <p:spPr>
          <a:xfrm>
            <a:off x="4686871" y="2253009"/>
            <a:ext cx="2910680" cy="296408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lvl="1" algn="ctr"/>
            <a:r>
              <a:rPr lang="en-US" dirty="0">
                <a:solidFill>
                  <a:sysClr val="windowText" lastClr="000000"/>
                </a:solidFill>
              </a:rPr>
              <a:t>    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87E9CD3-0EE0-69DE-F7D2-50EFCD0EA66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13873"/>
          <a:stretch>
            <a:fillRect/>
          </a:stretch>
        </p:blipFill>
        <p:spPr>
          <a:xfrm>
            <a:off x="4806706" y="2370190"/>
            <a:ext cx="702732" cy="60524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D9C2EC1-9B10-0675-B2E7-D42ECFD12FE4}"/>
              </a:ext>
            </a:extLst>
          </p:cNvPr>
          <p:cNvSpPr txBox="1"/>
          <p:nvPr/>
        </p:nvSpPr>
        <p:spPr>
          <a:xfrm>
            <a:off x="5629273" y="2485978"/>
            <a:ext cx="18056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Embedding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075760-E86A-0534-9632-1A901B2DBC4B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014618" y="2670644"/>
            <a:ext cx="2672253" cy="10644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8F2A589-F4E3-B526-A0BA-92F074CC27A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980504" y="3735052"/>
            <a:ext cx="270636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CCBFD5B-6F66-E1CF-09DA-96C1BCE84ED8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2208865" y="3735052"/>
            <a:ext cx="2478006" cy="122182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CBC6437-7408-64C6-4DB4-C5EAB1031AF1}"/>
              </a:ext>
            </a:extLst>
          </p:cNvPr>
          <p:cNvSpPr txBox="1"/>
          <p:nvPr/>
        </p:nvSpPr>
        <p:spPr>
          <a:xfrm>
            <a:off x="4806705" y="3211386"/>
            <a:ext cx="27063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Encodes Tables, Chunks Images into Vectors in same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used to compare different blocks with each other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0055E1F-854C-7827-9D24-CE9BA65ED939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597551" y="3735052"/>
            <a:ext cx="1089249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Graphic 40">
            <a:extLst>
              <a:ext uri="{FF2B5EF4-FFF2-40B4-BE49-F238E27FC236}">
                <a16:creationId xmlns:a16="http://schemas.microsoft.com/office/drawing/2014/main" id="{C1610A02-E523-8D1B-40B4-2F11904CE22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71279" y="2582561"/>
            <a:ext cx="2757373" cy="2353855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3C4B346-5B35-2862-84C7-890F3C3B5152}"/>
              </a:ext>
            </a:extLst>
          </p:cNvPr>
          <p:cNvSpPr txBox="1"/>
          <p:nvPr/>
        </p:nvSpPr>
        <p:spPr>
          <a:xfrm>
            <a:off x="8441240" y="5057229"/>
            <a:ext cx="29125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An Embedding Vector could look like this</a:t>
            </a:r>
          </a:p>
        </p:txBody>
      </p:sp>
    </p:spTree>
    <p:extLst>
      <p:ext uri="{BB962C8B-B14F-4D97-AF65-F5344CB8AC3E}">
        <p14:creationId xmlns:p14="http://schemas.microsoft.com/office/powerpoint/2010/main" val="2284938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283A6-E586-C914-D037-267EF326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Preparation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A56A5F5-0F8C-3D24-9D35-74828C8593D0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Vector Store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FA3D0FE-856B-6EC8-9883-905A52DE11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622" y="2144528"/>
            <a:ext cx="1071155" cy="914400"/>
          </a:xfrm>
          <a:prstGeom prst="rect">
            <a:avLst/>
          </a:prstGeom>
        </p:spPr>
      </p:pic>
      <p:pic>
        <p:nvPicPr>
          <p:cNvPr id="7" name="Graphic 6" descr="Image outline">
            <a:extLst>
              <a:ext uri="{FF2B5EF4-FFF2-40B4-BE49-F238E27FC236}">
                <a16:creationId xmlns:a16="http://schemas.microsoft.com/office/drawing/2014/main" id="{B35E60F2-6A35-49FA-C51B-30BFC3C39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58614" y="2170881"/>
            <a:ext cx="814451" cy="814451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F6249D2-458B-3982-F012-9F84A172BC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621" y="3341873"/>
            <a:ext cx="1071155" cy="914400"/>
          </a:xfrm>
          <a:prstGeom prst="rect">
            <a:avLst/>
          </a:prstGeom>
        </p:spPr>
      </p:pic>
      <p:pic>
        <p:nvPicPr>
          <p:cNvPr id="9" name="Graphic 8" descr="Document outline">
            <a:extLst>
              <a:ext uri="{FF2B5EF4-FFF2-40B4-BE49-F238E27FC236}">
                <a16:creationId xmlns:a16="http://schemas.microsoft.com/office/drawing/2014/main" id="{4DCBA162-F3DF-2850-91B6-1A60244459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41875" y="3434549"/>
            <a:ext cx="694204" cy="694204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A205A68F-245C-A48A-3947-DE7F1C10C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0620" y="4644712"/>
            <a:ext cx="1071155" cy="914400"/>
          </a:xfrm>
          <a:prstGeom prst="rect">
            <a:avLst/>
          </a:prstGeom>
        </p:spPr>
      </p:pic>
      <p:pic>
        <p:nvPicPr>
          <p:cNvPr id="11" name="Graphic 10" descr="Table outline">
            <a:extLst>
              <a:ext uri="{FF2B5EF4-FFF2-40B4-BE49-F238E27FC236}">
                <a16:creationId xmlns:a16="http://schemas.microsoft.com/office/drawing/2014/main" id="{EE9D0FA8-3BE9-44E5-D9C4-5E5BFF1F456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158614" y="4657863"/>
            <a:ext cx="842711" cy="84271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A68802D-1051-AEFE-CE14-87D9A47AD38D}"/>
              </a:ext>
            </a:extLst>
          </p:cNvPr>
          <p:cNvSpPr/>
          <p:nvPr/>
        </p:nvSpPr>
        <p:spPr>
          <a:xfrm>
            <a:off x="4579240" y="2107399"/>
            <a:ext cx="3390868" cy="334850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7CF11A-B0C0-2831-639D-B8CB79F6BAE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b="12576"/>
          <a:stretch>
            <a:fillRect/>
          </a:stretch>
        </p:blipFill>
        <p:spPr>
          <a:xfrm>
            <a:off x="4737470" y="2279527"/>
            <a:ext cx="683058" cy="597158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9D35FC8-304D-7422-57DA-01C838487DBD}"/>
              </a:ext>
            </a:extLst>
          </p:cNvPr>
          <p:cNvCxnSpPr>
            <a:cxnSpLocks/>
          </p:cNvCxnSpPr>
          <p:nvPr/>
        </p:nvCxnSpPr>
        <p:spPr>
          <a:xfrm>
            <a:off x="2991077" y="2582562"/>
            <a:ext cx="158816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8F00EA-8FB9-8C9F-9DED-D6DA39F898B2}"/>
              </a:ext>
            </a:extLst>
          </p:cNvPr>
          <p:cNvCxnSpPr>
            <a:cxnSpLocks/>
          </p:cNvCxnSpPr>
          <p:nvPr/>
        </p:nvCxnSpPr>
        <p:spPr>
          <a:xfrm>
            <a:off x="2991077" y="3797643"/>
            <a:ext cx="158816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2A104A2-0754-CC3A-9B1E-317749407ABE}"/>
              </a:ext>
            </a:extLst>
          </p:cNvPr>
          <p:cNvCxnSpPr>
            <a:cxnSpLocks/>
          </p:cNvCxnSpPr>
          <p:nvPr/>
        </p:nvCxnSpPr>
        <p:spPr>
          <a:xfrm>
            <a:off x="2991077" y="5070389"/>
            <a:ext cx="158816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D2FAA2C-7A02-42F9-3FAF-2196553023B7}"/>
              </a:ext>
            </a:extLst>
          </p:cNvPr>
          <p:cNvSpPr txBox="1"/>
          <p:nvPr/>
        </p:nvSpPr>
        <p:spPr>
          <a:xfrm>
            <a:off x="5420528" y="2358977"/>
            <a:ext cx="1881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Vector Store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1A20ED-E927-AC66-4CBA-4C38694E1E5B}"/>
              </a:ext>
            </a:extLst>
          </p:cNvPr>
          <p:cNvSpPr txBox="1"/>
          <p:nvPr/>
        </p:nvSpPr>
        <p:spPr>
          <a:xfrm>
            <a:off x="4737470" y="3058928"/>
            <a:ext cx="323263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Stores vectors with corresponding content in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Allows for Efficient Similarity Search (looks for closest neighbors) 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FA5399D-1482-1D6B-3194-21B6AACCFD49}"/>
              </a:ext>
            </a:extLst>
          </p:cNvPr>
          <p:cNvCxnSpPr>
            <a:cxnSpLocks/>
          </p:cNvCxnSpPr>
          <p:nvPr/>
        </p:nvCxnSpPr>
        <p:spPr>
          <a:xfrm>
            <a:off x="7970108" y="3768810"/>
            <a:ext cx="1588163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511F4C6-27B0-149D-0D17-6E0F59F59505}"/>
              </a:ext>
            </a:extLst>
          </p:cNvPr>
          <p:cNvSpPr txBox="1"/>
          <p:nvPr/>
        </p:nvSpPr>
        <p:spPr>
          <a:xfrm>
            <a:off x="9613269" y="3341873"/>
            <a:ext cx="2582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preparation complete!</a:t>
            </a:r>
          </a:p>
        </p:txBody>
      </p:sp>
    </p:spTree>
    <p:extLst>
      <p:ext uri="{BB962C8B-B14F-4D97-AF65-F5344CB8AC3E}">
        <p14:creationId xmlns:p14="http://schemas.microsoft.com/office/powerpoint/2010/main" val="285337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8A51C-D667-1A58-AA5B-A6CE24D4D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Pipeline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DDDD17F-14FA-36F1-E821-003A90C25272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Query Embedding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7C630-E44D-7C9D-76CD-14A79114EAD5}"/>
              </a:ext>
            </a:extLst>
          </p:cNvPr>
          <p:cNvSpPr/>
          <p:nvPr/>
        </p:nvSpPr>
        <p:spPr>
          <a:xfrm>
            <a:off x="1332471" y="3084689"/>
            <a:ext cx="1781432" cy="70433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lvl="1" algn="ctr"/>
            <a:r>
              <a:rPr lang="en-US" dirty="0">
                <a:solidFill>
                  <a:sysClr val="windowText" lastClr="000000"/>
                </a:solidFill>
              </a:rPr>
              <a:t>    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r>
              <a:rPr lang="en-US" dirty="0">
                <a:solidFill>
                  <a:sysClr val="windowText" lastClr="000000"/>
                </a:solidFill>
              </a:rPr>
              <a:t>Query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6" name="Graphic 5" descr="Questions with solid fill">
            <a:extLst>
              <a:ext uri="{FF2B5EF4-FFF2-40B4-BE49-F238E27FC236}">
                <a16:creationId xmlns:a16="http://schemas.microsoft.com/office/drawing/2014/main" id="{71CD7EB0-AF0F-940A-23B4-98BE7A0E3E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32471" y="3084689"/>
            <a:ext cx="720648" cy="720648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A3F2EDB-07B8-F060-C61C-B0ABD2C1AD99}"/>
              </a:ext>
            </a:extLst>
          </p:cNvPr>
          <p:cNvCxnSpPr>
            <a:stCxn id="5" idx="3"/>
          </p:cNvCxnSpPr>
          <p:nvPr/>
        </p:nvCxnSpPr>
        <p:spPr>
          <a:xfrm>
            <a:off x="3113903" y="3436858"/>
            <a:ext cx="1235676" cy="815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16C147A-9F5E-4A26-35F9-4EF025213D92}"/>
              </a:ext>
            </a:extLst>
          </p:cNvPr>
          <p:cNvSpPr/>
          <p:nvPr/>
        </p:nvSpPr>
        <p:spPr>
          <a:xfrm>
            <a:off x="4349579" y="2710223"/>
            <a:ext cx="2634676" cy="158601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600" dirty="0">
              <a:solidFill>
                <a:sysClr val="windowText" lastClr="0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7D7CC9-952E-6BE5-2129-F2E97C8DA4C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873"/>
          <a:stretch>
            <a:fillRect/>
          </a:stretch>
        </p:blipFill>
        <p:spPr>
          <a:xfrm>
            <a:off x="4528605" y="2839771"/>
            <a:ext cx="702732" cy="60524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B6A9AE1-F6CB-A0DE-564A-65B7708A6923}"/>
              </a:ext>
            </a:extLst>
          </p:cNvPr>
          <p:cNvCxnSpPr/>
          <p:nvPr/>
        </p:nvCxnSpPr>
        <p:spPr>
          <a:xfrm>
            <a:off x="6984255" y="3445013"/>
            <a:ext cx="1235676" cy="815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DC540DCD-AB7C-00B1-4324-1BB4B7991E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34232" y="2512217"/>
            <a:ext cx="2204514" cy="188190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E94A8D2-4DAA-CFB4-E46F-AFD37AE4E522}"/>
              </a:ext>
            </a:extLst>
          </p:cNvPr>
          <p:cNvSpPr txBox="1"/>
          <p:nvPr/>
        </p:nvSpPr>
        <p:spPr>
          <a:xfrm>
            <a:off x="5410363" y="2987157"/>
            <a:ext cx="1781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ysClr val="windowText" lastClr="000000"/>
                </a:solidFill>
              </a:rPr>
              <a:t>Embedding</a:t>
            </a:r>
            <a:endParaRPr 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4E8484-17F3-5BD6-C2A4-08513F30C0FC}"/>
              </a:ext>
            </a:extLst>
          </p:cNvPr>
          <p:cNvSpPr txBox="1"/>
          <p:nvPr/>
        </p:nvSpPr>
        <p:spPr>
          <a:xfrm>
            <a:off x="4417649" y="3530607"/>
            <a:ext cx="24841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Brings query into same space as Data</a:t>
            </a:r>
          </a:p>
        </p:txBody>
      </p:sp>
    </p:spTree>
    <p:extLst>
      <p:ext uri="{BB962C8B-B14F-4D97-AF65-F5344CB8AC3E}">
        <p14:creationId xmlns:p14="http://schemas.microsoft.com/office/powerpoint/2010/main" val="4109154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24D65-CA9D-FACC-8801-567627CC1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Pipeline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92CDC1-8A9C-1529-C6B2-24B821AACB62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Retrieval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03D4A8-6CA4-E081-FF4F-0881684E3E9E}"/>
              </a:ext>
            </a:extLst>
          </p:cNvPr>
          <p:cNvSpPr/>
          <p:nvPr/>
        </p:nvSpPr>
        <p:spPr>
          <a:xfrm>
            <a:off x="4436075" y="2071075"/>
            <a:ext cx="3620530" cy="315892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600" dirty="0">
              <a:solidFill>
                <a:sysClr val="windowText" lastClr="000000"/>
              </a:solidFill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E72AF86-E9C4-0CE2-99B2-396E1DA291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2709588"/>
            <a:ext cx="2204514" cy="18819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565FD8-C60F-905D-C41E-4A4BE396F9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2576"/>
          <a:stretch>
            <a:fillRect/>
          </a:stretch>
        </p:blipFill>
        <p:spPr>
          <a:xfrm>
            <a:off x="4737470" y="2279527"/>
            <a:ext cx="683058" cy="5971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2E41D80-4C2A-F740-6D51-B93978013CF8}"/>
              </a:ext>
            </a:extLst>
          </p:cNvPr>
          <p:cNvSpPr txBox="1"/>
          <p:nvPr/>
        </p:nvSpPr>
        <p:spPr>
          <a:xfrm>
            <a:off x="5420528" y="2358977"/>
            <a:ext cx="1881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Vector Store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949FB0-65CD-8791-228D-FAE7973BFDCC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082135" y="3650539"/>
            <a:ext cx="135394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388A78A-1DB3-8383-7A2C-174382473DA5}"/>
              </a:ext>
            </a:extLst>
          </p:cNvPr>
          <p:cNvSpPr txBox="1"/>
          <p:nvPr/>
        </p:nvSpPr>
        <p:spPr>
          <a:xfrm>
            <a:off x="4737470" y="3052119"/>
            <a:ext cx="312142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Finds the k closest vectors to the query vector</a:t>
            </a:r>
          </a:p>
          <a:p>
            <a:endParaRPr lang="en-US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dirty="0"/>
              <a:t>Closest in distance means that it is </a:t>
            </a:r>
            <a:r>
              <a:rPr lang="en-US" i="1" dirty="0"/>
              <a:t>probably c</a:t>
            </a:r>
            <a:r>
              <a:rPr lang="en-US" dirty="0"/>
              <a:t>losest in meaning and therefore most relevant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3850299-5347-4AEC-260C-C8EC69AB3DF1}"/>
              </a:ext>
            </a:extLst>
          </p:cNvPr>
          <p:cNvCxnSpPr>
            <a:cxnSpLocks/>
          </p:cNvCxnSpPr>
          <p:nvPr/>
        </p:nvCxnSpPr>
        <p:spPr>
          <a:xfrm flipV="1">
            <a:off x="8056605" y="2582562"/>
            <a:ext cx="1346887" cy="106797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7B7603DE-2B5D-2B56-48E1-AC27143FFC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89598" y="1901777"/>
            <a:ext cx="1071155" cy="914400"/>
          </a:xfrm>
          <a:prstGeom prst="rect">
            <a:avLst/>
          </a:prstGeom>
        </p:spPr>
      </p:pic>
      <p:pic>
        <p:nvPicPr>
          <p:cNvPr id="20" name="Graphic 19" descr="Image outline">
            <a:extLst>
              <a:ext uri="{FF2B5EF4-FFF2-40B4-BE49-F238E27FC236}">
                <a16:creationId xmlns:a16="http://schemas.microsoft.com/office/drawing/2014/main" id="{741632F6-314B-5A06-C675-63825321CF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87590" y="1928130"/>
            <a:ext cx="814451" cy="814451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34E0ED8E-4192-F590-3589-D6EFC9CBE1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89597" y="3099122"/>
            <a:ext cx="1071155" cy="914400"/>
          </a:xfrm>
          <a:prstGeom prst="rect">
            <a:avLst/>
          </a:prstGeom>
        </p:spPr>
      </p:pic>
      <p:pic>
        <p:nvPicPr>
          <p:cNvPr id="22" name="Graphic 21" descr="Document outline">
            <a:extLst>
              <a:ext uri="{FF2B5EF4-FFF2-40B4-BE49-F238E27FC236}">
                <a16:creationId xmlns:a16="http://schemas.microsoft.com/office/drawing/2014/main" id="{DC46290E-4358-AB8F-4984-6EEFB273FD4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70851" y="3191798"/>
            <a:ext cx="694204" cy="694204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D776BC2-6765-7ABF-A841-97D70F63E9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89596" y="4401961"/>
            <a:ext cx="1071155" cy="914400"/>
          </a:xfrm>
          <a:prstGeom prst="rect">
            <a:avLst/>
          </a:prstGeom>
        </p:spPr>
      </p:pic>
      <p:pic>
        <p:nvPicPr>
          <p:cNvPr id="24" name="Graphic 23" descr="Table outline">
            <a:extLst>
              <a:ext uri="{FF2B5EF4-FFF2-40B4-BE49-F238E27FC236}">
                <a16:creationId xmlns:a16="http://schemas.microsoft.com/office/drawing/2014/main" id="{600B31EE-5736-1B33-A1D8-04E7ADCEBA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787590" y="4415112"/>
            <a:ext cx="842711" cy="842711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321268B-0BE0-319A-4EAC-A5B5D5F80A6C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8056605" y="3650539"/>
            <a:ext cx="1346887" cy="115590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547BA6-184D-A0AD-5AD9-2C29EF514105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8056605" y="3650539"/>
            <a:ext cx="143528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FB1D4C1-CBD8-43CB-F219-7B147590831D}"/>
              </a:ext>
            </a:extLst>
          </p:cNvPr>
          <p:cNvSpPr txBox="1"/>
          <p:nvPr/>
        </p:nvSpPr>
        <p:spPr>
          <a:xfrm>
            <a:off x="9737265" y="5471786"/>
            <a:ext cx="22982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Context: </a:t>
            </a:r>
            <a:r>
              <a:rPr lang="en-US" sz="1600" dirty="0"/>
              <a:t>Most relevant vectors and their corresponding data</a:t>
            </a:r>
          </a:p>
        </p:txBody>
      </p:sp>
    </p:spTree>
    <p:extLst>
      <p:ext uri="{BB962C8B-B14F-4D97-AF65-F5344CB8AC3E}">
        <p14:creationId xmlns:p14="http://schemas.microsoft.com/office/powerpoint/2010/main" val="2674816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8DE0C-8F88-69C5-C7DC-D0095E3CE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 Pipeline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10E2396-20A5-F074-E21B-0DA622CB46D2}"/>
              </a:ext>
            </a:extLst>
          </p:cNvPr>
          <p:cNvSpPr txBox="1">
            <a:spLocks/>
          </p:cNvSpPr>
          <p:nvPr/>
        </p:nvSpPr>
        <p:spPr>
          <a:xfrm>
            <a:off x="838200" y="874575"/>
            <a:ext cx="10515600" cy="132556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i="1" dirty="0"/>
              <a:t>Output Generation</a:t>
            </a:r>
          </a:p>
        </p:txBody>
      </p:sp>
      <p:pic>
        <p:nvPicPr>
          <p:cNvPr id="7" name="Graphic 6" descr="Image outline">
            <a:extLst>
              <a:ext uri="{FF2B5EF4-FFF2-40B4-BE49-F238E27FC236}">
                <a16:creationId xmlns:a16="http://schemas.microsoft.com/office/drawing/2014/main" id="{B49662D2-F93E-51BC-DE01-44D782E802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7930" y="4093882"/>
            <a:ext cx="814451" cy="814451"/>
          </a:xfrm>
          <a:prstGeom prst="rect">
            <a:avLst/>
          </a:prstGeom>
        </p:spPr>
      </p:pic>
      <p:pic>
        <p:nvPicPr>
          <p:cNvPr id="8" name="Graphic 7" descr="Document outline">
            <a:extLst>
              <a:ext uri="{FF2B5EF4-FFF2-40B4-BE49-F238E27FC236}">
                <a16:creationId xmlns:a16="http://schemas.microsoft.com/office/drawing/2014/main" id="{D01E917B-0799-111B-ECED-032EAB5574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6435" y="4463750"/>
            <a:ext cx="694204" cy="694204"/>
          </a:xfrm>
          <a:prstGeom prst="rect">
            <a:avLst/>
          </a:prstGeom>
        </p:spPr>
      </p:pic>
      <p:pic>
        <p:nvPicPr>
          <p:cNvPr id="9" name="Graphic 8" descr="Table outline">
            <a:extLst>
              <a:ext uri="{FF2B5EF4-FFF2-40B4-BE49-F238E27FC236}">
                <a16:creationId xmlns:a16="http://schemas.microsoft.com/office/drawing/2014/main" id="{477A53FE-B164-B4CC-764C-72DB8DCFB08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532404" y="4671643"/>
            <a:ext cx="842711" cy="84271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782BF41D-F124-B1A0-E2B5-7238D801CC34}"/>
              </a:ext>
            </a:extLst>
          </p:cNvPr>
          <p:cNvSpPr/>
          <p:nvPr/>
        </p:nvSpPr>
        <p:spPr>
          <a:xfrm>
            <a:off x="782669" y="2399802"/>
            <a:ext cx="1781432" cy="70433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lvl="1" algn="ctr"/>
            <a:r>
              <a:rPr lang="en-US" dirty="0">
                <a:solidFill>
                  <a:sysClr val="windowText" lastClr="000000"/>
                </a:solidFill>
              </a:rPr>
              <a:t>    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r>
              <a:rPr lang="en-US" dirty="0">
                <a:solidFill>
                  <a:sysClr val="windowText" lastClr="000000"/>
                </a:solidFill>
              </a:rPr>
              <a:t>Query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1" name="Graphic 10" descr="Questions with solid fill">
            <a:extLst>
              <a:ext uri="{FF2B5EF4-FFF2-40B4-BE49-F238E27FC236}">
                <a16:creationId xmlns:a16="http://schemas.microsoft.com/office/drawing/2014/main" id="{655F37BC-A24F-F739-A76D-14E87E62A1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5762" y="2406534"/>
            <a:ext cx="720648" cy="720648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92DA5DEB-DB0A-C5F7-24F3-1CBEC10670BE}"/>
              </a:ext>
            </a:extLst>
          </p:cNvPr>
          <p:cNvSpPr/>
          <p:nvPr/>
        </p:nvSpPr>
        <p:spPr>
          <a:xfrm>
            <a:off x="4003589" y="2132463"/>
            <a:ext cx="3880022" cy="406438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4B8AB1F-0A7D-9921-EAFC-65A73BECF6FD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b="21641"/>
          <a:stretch>
            <a:fillRect/>
          </a:stretch>
        </p:blipFill>
        <p:spPr>
          <a:xfrm>
            <a:off x="4248106" y="2226303"/>
            <a:ext cx="1060784" cy="83122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C0AE169-A438-A433-874F-030549B923EF}"/>
              </a:ext>
            </a:extLst>
          </p:cNvPr>
          <p:cNvSpPr txBox="1"/>
          <p:nvPr/>
        </p:nvSpPr>
        <p:spPr>
          <a:xfrm>
            <a:off x="5708821" y="2551104"/>
            <a:ext cx="21995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LLM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62DCF4-ABB9-6CA9-70B7-D6B5B6BECA7B}"/>
              </a:ext>
            </a:extLst>
          </p:cNvPr>
          <p:cNvSpPr txBox="1"/>
          <p:nvPr/>
        </p:nvSpPr>
        <p:spPr>
          <a:xfrm>
            <a:off x="4248106" y="3057523"/>
            <a:ext cx="34254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Prompt:</a:t>
            </a:r>
          </a:p>
          <a:p>
            <a:r>
              <a:rPr lang="en-US" dirty="0"/>
              <a:t>“You are a data extraction expert. Use the following data to answer the question.</a:t>
            </a:r>
          </a:p>
          <a:p>
            <a:endParaRPr lang="en-US" dirty="0"/>
          </a:p>
          <a:p>
            <a:r>
              <a:rPr lang="en-US" dirty="0"/>
              <a:t>DATA:{</a:t>
            </a:r>
            <a:r>
              <a:rPr lang="en-US" i="1" dirty="0"/>
              <a:t>Data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QUESTION:{</a:t>
            </a:r>
            <a:r>
              <a:rPr lang="en-US" i="1" dirty="0"/>
              <a:t>Query</a:t>
            </a:r>
            <a:r>
              <a:rPr lang="en-US" dirty="0"/>
              <a:t>} “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i="1" dirty="0"/>
              <a:t>Data</a:t>
            </a:r>
            <a:r>
              <a:rPr lang="en-US" dirty="0"/>
              <a:t>, </a:t>
            </a:r>
            <a:r>
              <a:rPr lang="en-US" i="1" dirty="0"/>
              <a:t>Query</a:t>
            </a:r>
            <a:r>
              <a:rPr lang="en-US" dirty="0"/>
              <a:t> are inserted respectively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65B04A-6468-BF9F-8AD0-B423E2F8DF32}"/>
              </a:ext>
            </a:extLst>
          </p:cNvPr>
          <p:cNvSpPr txBox="1"/>
          <p:nvPr/>
        </p:nvSpPr>
        <p:spPr>
          <a:xfrm>
            <a:off x="1160424" y="5365847"/>
            <a:ext cx="2231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Data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91AF0F-D68E-EC15-6BC8-203B106A5A52}"/>
              </a:ext>
            </a:extLst>
          </p:cNvPr>
          <p:cNvSpPr txBox="1"/>
          <p:nvPr/>
        </p:nvSpPr>
        <p:spPr>
          <a:xfrm>
            <a:off x="1185302" y="3192321"/>
            <a:ext cx="2231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Query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A6C924-B871-9923-93B2-7C2C327A2780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2564101" y="2751971"/>
            <a:ext cx="1439488" cy="30555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9DF2A7-D085-AC6F-3DDF-783C96367D1B}"/>
              </a:ext>
            </a:extLst>
          </p:cNvPr>
          <p:cNvCxnSpPr>
            <a:cxnSpLocks/>
          </p:cNvCxnSpPr>
          <p:nvPr/>
        </p:nvCxnSpPr>
        <p:spPr>
          <a:xfrm flipV="1">
            <a:off x="2375115" y="4201297"/>
            <a:ext cx="1628474" cy="60548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4B08D9B-3DA9-3DD7-DDAB-7BAE53CAFAAE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7883611" y="4164654"/>
            <a:ext cx="143948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9D6F522-DA61-F967-452A-D8E822C602D2}"/>
              </a:ext>
            </a:extLst>
          </p:cNvPr>
          <p:cNvSpPr/>
          <p:nvPr/>
        </p:nvSpPr>
        <p:spPr>
          <a:xfrm>
            <a:off x="9323099" y="3796770"/>
            <a:ext cx="1781432" cy="70433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lvl="1" algn="ctr"/>
            <a:r>
              <a:rPr lang="en-US" dirty="0">
                <a:solidFill>
                  <a:sysClr val="windowText" lastClr="000000"/>
                </a:solidFill>
              </a:rPr>
              <a:t>    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r>
              <a:rPr lang="en-US" dirty="0">
                <a:solidFill>
                  <a:sysClr val="windowText" lastClr="000000"/>
                </a:solidFill>
              </a:rPr>
              <a:t>Output </a:t>
            </a: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  <a:p>
            <a:pPr algn="r"/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Graphic 30" descr="Share outline">
            <a:extLst>
              <a:ext uri="{FF2B5EF4-FFF2-40B4-BE49-F238E27FC236}">
                <a16:creationId xmlns:a16="http://schemas.microsoft.com/office/drawing/2014/main" id="{8EDBD4E5-F27B-FE30-6079-20BF6372DCF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358279" y="3852398"/>
            <a:ext cx="593079" cy="59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90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2706</TotalTime>
  <Words>530</Words>
  <Application>Microsoft Macintosh PowerPoint</Application>
  <PresentationFormat>Widescreen</PresentationFormat>
  <Paragraphs>137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Wingdings</vt:lpstr>
      <vt:lpstr>Office Theme</vt:lpstr>
      <vt:lpstr>Introduction to RAG</vt:lpstr>
      <vt:lpstr>Brief History</vt:lpstr>
      <vt:lpstr>Brief History</vt:lpstr>
      <vt:lpstr>Finetuning LLMs</vt:lpstr>
      <vt:lpstr>RAG - ‘Retrieval Augmented Generation’</vt:lpstr>
      <vt:lpstr>RAG Overview:</vt:lpstr>
      <vt:lpstr>Data Preparation</vt:lpstr>
      <vt:lpstr>Data Preparation</vt:lpstr>
      <vt:lpstr>Data Preparation</vt:lpstr>
      <vt:lpstr>Data Preparation</vt:lpstr>
      <vt:lpstr>RAG Pipeline</vt:lpstr>
      <vt:lpstr>RAG Pipeline</vt:lpstr>
      <vt:lpstr>RAG 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 Teufel</dc:creator>
  <cp:lastModifiedBy>Carlo Teufel</cp:lastModifiedBy>
  <cp:revision>33</cp:revision>
  <dcterms:created xsi:type="dcterms:W3CDTF">2025-05-15T08:48:50Z</dcterms:created>
  <dcterms:modified xsi:type="dcterms:W3CDTF">2025-07-06T13:17:14Z</dcterms:modified>
</cp:coreProperties>
</file>